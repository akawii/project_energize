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Bricolage Grotesque Bold" charset="1" panose="020B0605040402000204"/>
      <p:regular r:id="rId19"/>
    </p:embeddedFont>
    <p:embeddedFont>
      <p:font typeface="Inter" charset="1" panose="020B0502030000000004"/>
      <p:regular r:id="rId20"/>
    </p:embeddedFont>
    <p:embeddedFont>
      <p:font typeface="Inter Medium" charset="1" panose="02000503000000020004"/>
      <p:regular r:id="rId21"/>
    </p:embeddedFont>
    <p:embeddedFont>
      <p:font typeface="Inter Bold" charset="1" panose="020B08020300000000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jpeg" Type="http://schemas.openxmlformats.org/officeDocument/2006/relationships/image"/><Relationship Id="rId5" Target="../media/VAG4bd5rwPk.mp4" Type="http://schemas.openxmlformats.org/officeDocument/2006/relationships/video"/><Relationship Id="rId6" Target="../media/VAG4bd5rwPk.mp4" Type="http://schemas.microsoft.com/office/2007/relationships/media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Relationship Id="rId6" Target="../media/image1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6.png" Type="http://schemas.openxmlformats.org/officeDocument/2006/relationships/image"/><Relationship Id="rId5" Target="https://github.com/Akawii/Project_Energize" TargetMode="External" Type="http://schemas.openxmlformats.org/officeDocument/2006/relationships/hyperlink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98249" y="8694950"/>
            <a:ext cx="4691503" cy="561098"/>
            <a:chOff x="0" y="0"/>
            <a:chExt cx="1235622" cy="147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35622" cy="147779"/>
            </a:xfrm>
            <a:custGeom>
              <a:avLst/>
              <a:gdLst/>
              <a:ahLst/>
              <a:cxnLst/>
              <a:rect r="r" b="b" t="t" l="l"/>
              <a:pathLst>
                <a:path h="147779" w="1235622">
                  <a:moveTo>
                    <a:pt x="73889" y="0"/>
                  </a:moveTo>
                  <a:lnTo>
                    <a:pt x="1161733" y="0"/>
                  </a:lnTo>
                  <a:cubicBezTo>
                    <a:pt x="1181329" y="0"/>
                    <a:pt x="1200123" y="7785"/>
                    <a:pt x="1213980" y="21642"/>
                  </a:cubicBezTo>
                  <a:cubicBezTo>
                    <a:pt x="1227837" y="35499"/>
                    <a:pt x="1235622" y="54293"/>
                    <a:pt x="1235622" y="73889"/>
                  </a:cubicBezTo>
                  <a:lnTo>
                    <a:pt x="1235622" y="73889"/>
                  </a:lnTo>
                  <a:cubicBezTo>
                    <a:pt x="1235622" y="93486"/>
                    <a:pt x="1227837" y="112280"/>
                    <a:pt x="1213980" y="126137"/>
                  </a:cubicBezTo>
                  <a:cubicBezTo>
                    <a:pt x="1200123" y="139994"/>
                    <a:pt x="1181329" y="147779"/>
                    <a:pt x="1161733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235622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460672" y="1028700"/>
            <a:ext cx="3366656" cy="561098"/>
            <a:chOff x="0" y="0"/>
            <a:chExt cx="886691" cy="147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3910292" y="2181186"/>
            <a:ext cx="10467416" cy="3457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59"/>
              </a:lnSpc>
            </a:pPr>
            <a:r>
              <a:rPr lang="en-US" b="true" sz="87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ENERGIZE</a:t>
            </a:r>
          </a:p>
          <a:p>
            <a:pPr algn="ctr">
              <a:lnSpc>
                <a:spcPts val="8399"/>
              </a:lnSpc>
            </a:pPr>
            <a:r>
              <a:rPr lang="en-US" b="true" sz="69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PROTECTING OUR BELOVED BIKES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69627" y="5906245"/>
            <a:ext cx="7748745" cy="1054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IADE – M</a:t>
            </a: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Sc in Creative Computing and Artificial Intelligence (M-CCIA)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In collaboration with Cicla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2079081" y="-1447755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0"/>
                </a:moveTo>
                <a:lnTo>
                  <a:pt x="7315200" y="0"/>
                </a:lnTo>
                <a:lnTo>
                  <a:pt x="7315200" y="3849701"/>
                </a:lnTo>
                <a:lnTo>
                  <a:pt x="0" y="384970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true" rot="0">
            <a:off x="13051881" y="7885054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1"/>
                </a:moveTo>
                <a:lnTo>
                  <a:pt x="0" y="3849701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040977" y="7265929"/>
            <a:ext cx="8847787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 solar-powered, intelligent bicycle parking system promoting sustainable urban mobility.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8065634" y="7974433"/>
            <a:ext cx="2156731" cy="631138"/>
          </a:xfrm>
          <a:custGeom>
            <a:avLst/>
            <a:gdLst/>
            <a:ahLst/>
            <a:cxnLst/>
            <a:rect r="r" b="b" t="t" l="l"/>
            <a:pathLst>
              <a:path h="631138" w="2156731">
                <a:moveTo>
                  <a:pt x="0" y="0"/>
                </a:moveTo>
                <a:lnTo>
                  <a:pt x="2156732" y="0"/>
                </a:lnTo>
                <a:lnTo>
                  <a:pt x="2156732" y="631138"/>
                </a:lnTo>
                <a:lnTo>
                  <a:pt x="0" y="6311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344" r="0" b="-18344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47449" cy="157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54990"/>
              <a:ext cx="206735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true" rot="0">
            <a:off x="-243346" y="8134437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1"/>
                </a:moveTo>
                <a:lnTo>
                  <a:pt x="7315200" y="3849701"/>
                </a:lnTo>
                <a:lnTo>
                  <a:pt x="7315200" y="0"/>
                </a:lnTo>
                <a:lnTo>
                  <a:pt x="0" y="0"/>
                </a:lnTo>
                <a:lnTo>
                  <a:pt x="0" y="3849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7919730" y="2174662"/>
            <a:ext cx="244853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TEAM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3593199"/>
            <a:ext cx="15381146" cy="212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ngela Xavier- no.20251484  — AI, Machine Learning, Visualization,  IoT, Hardware Integration</a:t>
            </a:r>
          </a:p>
          <a:p>
            <a:pPr algn="just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Muhammad Zidane- no.20200057 — IoT, Hardware Integration, AI, Machine Learning, Visualization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99048" y="6543762"/>
            <a:ext cx="15110798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solar-powered, intelligent bicycle parking system promoting sustainable urban mobility.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2911" y="9735437"/>
            <a:ext cx="9440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47449" cy="157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54990"/>
              <a:ext cx="206735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03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5281118" y="2164888"/>
            <a:ext cx="772576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79"/>
              </a:lnSpc>
            </a:pPr>
            <a:r>
              <a:rPr lang="en-US" sz="6399" b="true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PROBLEM &amp; GOAL</a:t>
            </a:r>
          </a:p>
        </p:txBody>
      </p:sp>
      <p:sp>
        <p:nvSpPr>
          <p:cNvPr name="Freeform 11" id="11"/>
          <p:cNvSpPr/>
          <p:nvPr/>
        </p:nvSpPr>
        <p:spPr>
          <a:xfrm flipH="false" flipV="true" rot="0">
            <a:off x="-243346" y="8134437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1"/>
                </a:moveTo>
                <a:lnTo>
                  <a:pt x="7315200" y="3849701"/>
                </a:lnTo>
                <a:lnTo>
                  <a:pt x="7315200" y="0"/>
                </a:lnTo>
                <a:lnTo>
                  <a:pt x="0" y="0"/>
                </a:lnTo>
                <a:lnTo>
                  <a:pt x="0" y="3849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330062" y="5507662"/>
            <a:ext cx="15627875" cy="2051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Goa</a:t>
            </a: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l:</a:t>
            </a:r>
          </a:p>
          <a:p>
            <a:pPr algn="just">
              <a:lnSpc>
                <a:spcPts val="4199"/>
              </a:lnSpc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Design a secure, eco-friendly bike storage solution powered by solar energy, enhanced with smart access control and real-time monitoring.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330062" y="3498388"/>
            <a:ext cx="15627875" cy="16440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12462" indent="-356231" lvl="1">
              <a:lnSpc>
                <a:spcPts val="4619"/>
              </a:lnSpc>
              <a:buFont typeface="Arial"/>
              <a:buChar char="•"/>
            </a:pP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</a:t>
            </a: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lem: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Urban areas experience high rates of bicycle theft and vandalism, discouraging sustainable commuting.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2911" y="9735437"/>
            <a:ext cx="9440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47449" cy="157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54990"/>
              <a:ext cx="206735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04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CONCEPT: WHAT IS ENERGIZE?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0" y="3663209"/>
            <a:ext cx="18288000" cy="406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</a:pPr>
            <a:r>
              <a:rPr lang="en-US" b="true" sz="3500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Energize</a:t>
            </a:r>
            <a:r>
              <a:rPr lang="en-US" sz="35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is a modular, solar-powered bike parking system that offers the following features: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Prevents theft and vandalism.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Utilizes RFID technology for authorized user access.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Operates independently on solar power.</a:t>
            </a:r>
          </a:p>
          <a:p>
            <a:pPr algn="l" marL="690881" indent="-345440" lvl="1">
              <a:lnSpc>
                <a:spcPts val="3840"/>
              </a:lnSpc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Collects and visualizes usage data via a digital dashboard.</a:t>
            </a:r>
          </a:p>
          <a:p>
            <a:pPr algn="l">
              <a:lnSpc>
                <a:spcPts val="4166"/>
              </a:lnSpc>
            </a:pPr>
          </a:p>
          <a:p>
            <a:pPr algn="l">
              <a:lnSpc>
                <a:spcPts val="4166"/>
              </a:lnSpc>
              <a:spcBef>
                <a:spcPct val="0"/>
              </a:spcBef>
            </a:pPr>
            <a:r>
              <a:rPr lang="en-US" sz="3472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📍 This system is deployable in any urban or campus setting.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2911" y="9735437"/>
            <a:ext cx="9440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47449" cy="157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54990"/>
              <a:ext cx="206735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05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4114971"/>
            <a:ext cx="3366656" cy="3173175"/>
            <a:chOff x="0" y="0"/>
            <a:chExt cx="1379491" cy="130021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68988" y="0"/>
                  </a:moveTo>
                  <a:lnTo>
                    <a:pt x="1310504" y="0"/>
                  </a:lnTo>
                  <a:cubicBezTo>
                    <a:pt x="1348605" y="0"/>
                    <a:pt x="1379491" y="30887"/>
                    <a:pt x="1379491" y="68988"/>
                  </a:cubicBezTo>
                  <a:lnTo>
                    <a:pt x="1379491" y="1231225"/>
                  </a:lnTo>
                  <a:cubicBezTo>
                    <a:pt x="1379491" y="1269325"/>
                    <a:pt x="1348605" y="1300212"/>
                    <a:pt x="1310504" y="1300212"/>
                  </a:cubicBezTo>
                  <a:lnTo>
                    <a:pt x="68988" y="1300212"/>
                  </a:lnTo>
                  <a:cubicBezTo>
                    <a:pt x="30887" y="1300212"/>
                    <a:pt x="0" y="1269325"/>
                    <a:pt x="0" y="1231225"/>
                  </a:cubicBezTo>
                  <a:lnTo>
                    <a:pt x="0" y="68988"/>
                  </a:lnTo>
                  <a:cubicBezTo>
                    <a:pt x="0" y="30887"/>
                    <a:pt x="30887" y="0"/>
                    <a:pt x="68988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9525"/>
              <a:ext cx="1379491" cy="1309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WHY ENERGIZE?</a:t>
            </a:r>
          </a:p>
        </p:txBody>
      </p:sp>
      <p:sp>
        <p:nvSpPr>
          <p:cNvPr name="Freeform 14" id="14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6" id="16"/>
          <p:cNvGrpSpPr/>
          <p:nvPr/>
        </p:nvGrpSpPr>
        <p:grpSpPr>
          <a:xfrm rot="0">
            <a:off x="5288315" y="4114971"/>
            <a:ext cx="3366656" cy="3173175"/>
            <a:chOff x="0" y="0"/>
            <a:chExt cx="1379491" cy="130021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68988" y="0"/>
                  </a:moveTo>
                  <a:lnTo>
                    <a:pt x="1310504" y="0"/>
                  </a:lnTo>
                  <a:cubicBezTo>
                    <a:pt x="1348605" y="0"/>
                    <a:pt x="1379491" y="30887"/>
                    <a:pt x="1379491" y="68988"/>
                  </a:cubicBezTo>
                  <a:lnTo>
                    <a:pt x="1379491" y="1231225"/>
                  </a:lnTo>
                  <a:cubicBezTo>
                    <a:pt x="1379491" y="1269325"/>
                    <a:pt x="1348605" y="1300212"/>
                    <a:pt x="1310504" y="1300212"/>
                  </a:cubicBezTo>
                  <a:lnTo>
                    <a:pt x="68988" y="1300212"/>
                  </a:lnTo>
                  <a:cubicBezTo>
                    <a:pt x="30887" y="1300212"/>
                    <a:pt x="0" y="1269325"/>
                    <a:pt x="0" y="1231225"/>
                  </a:cubicBezTo>
                  <a:lnTo>
                    <a:pt x="0" y="68988"/>
                  </a:lnTo>
                  <a:cubicBezTo>
                    <a:pt x="0" y="30887"/>
                    <a:pt x="30887" y="0"/>
                    <a:pt x="68988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1379491" cy="1309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582150" y="4114971"/>
            <a:ext cx="3366656" cy="3173175"/>
            <a:chOff x="0" y="0"/>
            <a:chExt cx="1379491" cy="130021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68988" y="0"/>
                  </a:moveTo>
                  <a:lnTo>
                    <a:pt x="1310504" y="0"/>
                  </a:lnTo>
                  <a:cubicBezTo>
                    <a:pt x="1348605" y="0"/>
                    <a:pt x="1379491" y="30887"/>
                    <a:pt x="1379491" y="68988"/>
                  </a:cubicBezTo>
                  <a:lnTo>
                    <a:pt x="1379491" y="1231225"/>
                  </a:lnTo>
                  <a:cubicBezTo>
                    <a:pt x="1379491" y="1269325"/>
                    <a:pt x="1348605" y="1300212"/>
                    <a:pt x="1310504" y="1300212"/>
                  </a:cubicBezTo>
                  <a:lnTo>
                    <a:pt x="68988" y="1300212"/>
                  </a:lnTo>
                  <a:cubicBezTo>
                    <a:pt x="30887" y="1300212"/>
                    <a:pt x="0" y="1269325"/>
                    <a:pt x="0" y="1231225"/>
                  </a:cubicBezTo>
                  <a:lnTo>
                    <a:pt x="0" y="68988"/>
                  </a:lnTo>
                  <a:cubicBezTo>
                    <a:pt x="0" y="30887"/>
                    <a:pt x="30887" y="0"/>
                    <a:pt x="68988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9525"/>
              <a:ext cx="1379491" cy="1309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844156" y="4114971"/>
            <a:ext cx="3366656" cy="3173175"/>
            <a:chOff x="0" y="0"/>
            <a:chExt cx="1379491" cy="130021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68988" y="0"/>
                  </a:moveTo>
                  <a:lnTo>
                    <a:pt x="1310504" y="0"/>
                  </a:lnTo>
                  <a:cubicBezTo>
                    <a:pt x="1348605" y="0"/>
                    <a:pt x="1379491" y="30887"/>
                    <a:pt x="1379491" y="68988"/>
                  </a:cubicBezTo>
                  <a:lnTo>
                    <a:pt x="1379491" y="1231225"/>
                  </a:lnTo>
                  <a:cubicBezTo>
                    <a:pt x="1379491" y="1269325"/>
                    <a:pt x="1348605" y="1300212"/>
                    <a:pt x="1310504" y="1300212"/>
                  </a:cubicBezTo>
                  <a:lnTo>
                    <a:pt x="68988" y="1300212"/>
                  </a:lnTo>
                  <a:cubicBezTo>
                    <a:pt x="30887" y="1300212"/>
                    <a:pt x="0" y="1269325"/>
                    <a:pt x="0" y="1231225"/>
                  </a:cubicBezTo>
                  <a:lnTo>
                    <a:pt x="0" y="68988"/>
                  </a:lnTo>
                  <a:cubicBezTo>
                    <a:pt x="0" y="30887"/>
                    <a:pt x="30887" y="0"/>
                    <a:pt x="68988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1379491" cy="1309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73646" y="5220546"/>
            <a:ext cx="2876764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Smart Access: RFID-based controlled entry.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33261" y="5063384"/>
            <a:ext cx="2876764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Solar Integration: Clean, renewable energy powering all functions.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27096" y="5063384"/>
            <a:ext cx="2876764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Sensors &amp; Detection: Detects unauthorized access, motion, or tampering.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089102" y="5063384"/>
            <a:ext cx="2876764" cy="952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Sustainability: Fully off-grid operation with minimal maintenance.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32911" y="9735437"/>
            <a:ext cx="9440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47449" cy="157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54990"/>
              <a:ext cx="206735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06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IOT ARCHITECTURE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0062" y="3183819"/>
            <a:ext cx="15627875" cy="1110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System Overvi</a:t>
            </a: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ew::</a:t>
            </a:r>
          </a:p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nsors → Microcontroller (ESP32) → Wi-Fi → Database → Visualization Interface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0062" y="5139584"/>
            <a:ext cx="1562787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“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Se</a:t>
            </a:r>
            <a:r>
              <a:rPr lang="en-US" sz="300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nsor data (motion, vibration, energy) is processed by the ESP32 and sent to the database for live monitoring.”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532911" y="9735437"/>
            <a:ext cx="9440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47449" cy="157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54990"/>
              <a:ext cx="206735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2" id="12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14066683" y="2621068"/>
            <a:ext cx="3226838" cy="5741082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 IOT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30062" y="3441018"/>
            <a:ext cx="15627875" cy="30994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619"/>
              </a:lnSpc>
            </a:pP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Components:</a:t>
            </a:r>
            <a:r>
              <a:rPr lang="en-US" sz="32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ensors: Motion, proximity, vibration, energy.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Controller: ESP32 (data acquisition and transmission).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Dashboard: Displays system activity and energy usage.</a:t>
            </a:r>
          </a:p>
          <a:p>
            <a:pPr algn="just" marL="647694" indent="-323847" lvl="1">
              <a:lnSpc>
                <a:spcPts val="4199"/>
              </a:lnSpc>
              <a:buFont typeface="Arial"/>
              <a:buChar char="•"/>
            </a:pPr>
            <a:r>
              <a:rPr lang="en-US" sz="2999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Power Source: Photovoltaic panels with smart charging.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1330062" y="6408878"/>
            <a:ext cx="15627875" cy="9315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b="true" sz="2999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Real-time monitoring of bikes, solar performance, and occupancy.</a:t>
            </a:r>
          </a:p>
          <a:p>
            <a:pPr algn="just">
              <a:lnSpc>
                <a:spcPts val="3359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8532911" y="9735437"/>
            <a:ext cx="9440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47449" cy="157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54990"/>
              <a:ext cx="206735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08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1426314" y="2040819"/>
            <a:ext cx="15435372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AI &amp; MACHINE LEARNING INTEGRATION</a:t>
            </a:r>
          </a:p>
        </p:txBody>
      </p:sp>
      <p:sp>
        <p:nvSpPr>
          <p:cNvPr name="Freeform 11" id="11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28700" y="3460044"/>
            <a:ext cx="7160340" cy="2247900"/>
            <a:chOff x="0" y="0"/>
            <a:chExt cx="2933958" cy="92108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933958" cy="921080"/>
            </a:xfrm>
            <a:custGeom>
              <a:avLst/>
              <a:gdLst/>
              <a:ahLst/>
              <a:cxnLst/>
              <a:rect r="r" b="b" t="t" l="l"/>
              <a:pathLst>
                <a:path h="921080" w="2933958">
                  <a:moveTo>
                    <a:pt x="32437" y="0"/>
                  </a:moveTo>
                  <a:lnTo>
                    <a:pt x="2901521" y="0"/>
                  </a:lnTo>
                  <a:cubicBezTo>
                    <a:pt x="2919436" y="0"/>
                    <a:pt x="2933958" y="14522"/>
                    <a:pt x="2933958" y="32437"/>
                  </a:cubicBezTo>
                  <a:lnTo>
                    <a:pt x="2933958" y="888643"/>
                  </a:lnTo>
                  <a:cubicBezTo>
                    <a:pt x="2933958" y="906557"/>
                    <a:pt x="2919436" y="921080"/>
                    <a:pt x="2901521" y="921080"/>
                  </a:cubicBezTo>
                  <a:lnTo>
                    <a:pt x="32437" y="921080"/>
                  </a:lnTo>
                  <a:cubicBezTo>
                    <a:pt x="14522" y="921080"/>
                    <a:pt x="0" y="906557"/>
                    <a:pt x="0" y="888643"/>
                  </a:cubicBezTo>
                  <a:lnTo>
                    <a:pt x="0" y="32437"/>
                  </a:lnTo>
                  <a:cubicBezTo>
                    <a:pt x="0" y="14522"/>
                    <a:pt x="14522" y="0"/>
                    <a:pt x="32437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9525"/>
              <a:ext cx="2933958" cy="930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285181" y="3617207"/>
            <a:ext cx="6220350" cy="1933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AI Goals: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Theft detection through ano</a:t>
            </a: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maly recognition.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Predicting usage patterns / occupancy forecasting.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Energy optimization based on solar and usage data.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178887" y="3460044"/>
            <a:ext cx="7080413" cy="2247900"/>
            <a:chOff x="0" y="0"/>
            <a:chExt cx="2901208" cy="92108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901208" cy="921080"/>
            </a:xfrm>
            <a:custGeom>
              <a:avLst/>
              <a:gdLst/>
              <a:ahLst/>
              <a:cxnLst/>
              <a:rect r="r" b="b" t="t" l="l"/>
              <a:pathLst>
                <a:path h="921080" w="2901208">
                  <a:moveTo>
                    <a:pt x="32803" y="0"/>
                  </a:moveTo>
                  <a:lnTo>
                    <a:pt x="2868405" y="0"/>
                  </a:lnTo>
                  <a:cubicBezTo>
                    <a:pt x="2877105" y="0"/>
                    <a:pt x="2885448" y="3456"/>
                    <a:pt x="2891600" y="9608"/>
                  </a:cubicBezTo>
                  <a:cubicBezTo>
                    <a:pt x="2897752" y="15759"/>
                    <a:pt x="2901208" y="24103"/>
                    <a:pt x="2901208" y="32803"/>
                  </a:cubicBezTo>
                  <a:lnTo>
                    <a:pt x="2901208" y="888277"/>
                  </a:lnTo>
                  <a:cubicBezTo>
                    <a:pt x="2901208" y="906393"/>
                    <a:pt x="2886521" y="921080"/>
                    <a:pt x="2868405" y="921080"/>
                  </a:cubicBezTo>
                  <a:lnTo>
                    <a:pt x="32803" y="921080"/>
                  </a:lnTo>
                  <a:cubicBezTo>
                    <a:pt x="24103" y="921080"/>
                    <a:pt x="15759" y="917624"/>
                    <a:pt x="9608" y="911472"/>
                  </a:cubicBezTo>
                  <a:cubicBezTo>
                    <a:pt x="3456" y="905320"/>
                    <a:pt x="0" y="896977"/>
                    <a:pt x="0" y="888277"/>
                  </a:cubicBezTo>
                  <a:lnTo>
                    <a:pt x="0" y="32803"/>
                  </a:lnTo>
                  <a:cubicBezTo>
                    <a:pt x="0" y="24103"/>
                    <a:pt x="3456" y="15759"/>
                    <a:pt x="9608" y="9608"/>
                  </a:cubicBezTo>
                  <a:cubicBezTo>
                    <a:pt x="15759" y="3456"/>
                    <a:pt x="24103" y="0"/>
                    <a:pt x="32803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2901208" cy="930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0608919" y="3774369"/>
            <a:ext cx="6220350" cy="161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Data Inputs: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</a:t>
            </a: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ensor readings (</a:t>
            </a: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motion, proximity, solar).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RFID logs and user access data.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Environmental conditions (light, temperature).</a:t>
            </a:r>
          </a:p>
        </p:txBody>
      </p:sp>
      <p:sp>
        <p:nvSpPr>
          <p:cNvPr name="AutoShape 21" id="21"/>
          <p:cNvSpPr/>
          <p:nvPr/>
        </p:nvSpPr>
        <p:spPr>
          <a:xfrm>
            <a:off x="8189040" y="4583994"/>
            <a:ext cx="1989847" cy="0"/>
          </a:xfrm>
          <a:prstGeom prst="line">
            <a:avLst/>
          </a:prstGeom>
          <a:ln cap="flat" w="47625">
            <a:solidFill>
              <a:srgbClr val="073B3A"/>
            </a:solidFill>
            <a:prstDash val="solid"/>
            <a:headEnd type="arrow" len="sm" w="med"/>
            <a:tailEnd type="arrow" len="sm" w="med"/>
          </a:ln>
        </p:spPr>
      </p:sp>
      <p:grpSp>
        <p:nvGrpSpPr>
          <p:cNvPr name="Group 22" id="22"/>
          <p:cNvGrpSpPr/>
          <p:nvPr/>
        </p:nvGrpSpPr>
        <p:grpSpPr>
          <a:xfrm rot="0">
            <a:off x="5643757" y="6686223"/>
            <a:ext cx="7080413" cy="2247900"/>
            <a:chOff x="0" y="0"/>
            <a:chExt cx="2901208" cy="92108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901208" cy="921080"/>
            </a:xfrm>
            <a:custGeom>
              <a:avLst/>
              <a:gdLst/>
              <a:ahLst/>
              <a:cxnLst/>
              <a:rect r="r" b="b" t="t" l="l"/>
              <a:pathLst>
                <a:path h="921080" w="2901208">
                  <a:moveTo>
                    <a:pt x="32803" y="0"/>
                  </a:moveTo>
                  <a:lnTo>
                    <a:pt x="2868405" y="0"/>
                  </a:lnTo>
                  <a:cubicBezTo>
                    <a:pt x="2877105" y="0"/>
                    <a:pt x="2885448" y="3456"/>
                    <a:pt x="2891600" y="9608"/>
                  </a:cubicBezTo>
                  <a:cubicBezTo>
                    <a:pt x="2897752" y="15759"/>
                    <a:pt x="2901208" y="24103"/>
                    <a:pt x="2901208" y="32803"/>
                  </a:cubicBezTo>
                  <a:lnTo>
                    <a:pt x="2901208" y="888277"/>
                  </a:lnTo>
                  <a:cubicBezTo>
                    <a:pt x="2901208" y="906393"/>
                    <a:pt x="2886521" y="921080"/>
                    <a:pt x="2868405" y="921080"/>
                  </a:cubicBezTo>
                  <a:lnTo>
                    <a:pt x="32803" y="921080"/>
                  </a:lnTo>
                  <a:cubicBezTo>
                    <a:pt x="24103" y="921080"/>
                    <a:pt x="15759" y="917624"/>
                    <a:pt x="9608" y="911472"/>
                  </a:cubicBezTo>
                  <a:cubicBezTo>
                    <a:pt x="3456" y="905320"/>
                    <a:pt x="0" y="896977"/>
                    <a:pt x="0" y="888277"/>
                  </a:cubicBezTo>
                  <a:lnTo>
                    <a:pt x="0" y="32803"/>
                  </a:lnTo>
                  <a:cubicBezTo>
                    <a:pt x="0" y="24103"/>
                    <a:pt x="3456" y="15759"/>
                    <a:pt x="9608" y="9608"/>
                  </a:cubicBezTo>
                  <a:cubicBezTo>
                    <a:pt x="15759" y="3456"/>
                    <a:pt x="24103" y="0"/>
                    <a:pt x="32803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9525"/>
              <a:ext cx="2901208" cy="9306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073789" y="7295823"/>
            <a:ext cx="6220350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399" b="true">
                <a:solidFill>
                  <a:srgbClr val="FFFFFF"/>
                </a:solidFill>
                <a:latin typeface="Inter Medium"/>
                <a:ea typeface="Inter Medium"/>
                <a:cs typeface="Inter Medium"/>
                <a:sym typeface="Inter Medium"/>
              </a:rPr>
              <a:t>Expected Outputs:</a:t>
            </a:r>
          </a:p>
          <a:p>
            <a:pPr algn="ctr" marL="453390" indent="-226695" lvl="1">
              <a:lnSpc>
                <a:spcPts val="2520"/>
              </a:lnSpc>
              <a:spcBef>
                <a:spcPct val="0"/>
              </a:spcBef>
              <a:buFont typeface="Arial"/>
              <a:buChar char="•"/>
            </a:pPr>
            <a:r>
              <a:rPr lang="en-US" sz="21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Alerts, predictive usage trends, energy efficiency adjustments.</a:t>
            </a:r>
          </a:p>
        </p:txBody>
      </p:sp>
      <p:sp>
        <p:nvSpPr>
          <p:cNvPr name="AutoShape 26" id="26"/>
          <p:cNvSpPr/>
          <p:nvPr/>
        </p:nvSpPr>
        <p:spPr>
          <a:xfrm flipH="true">
            <a:off x="9183964" y="4583994"/>
            <a:ext cx="0" cy="2102229"/>
          </a:xfrm>
          <a:prstGeom prst="line">
            <a:avLst/>
          </a:prstGeom>
          <a:ln cap="flat" w="47625">
            <a:solidFill>
              <a:srgbClr val="073B3A"/>
            </a:solidFill>
            <a:prstDash val="solid"/>
            <a:headEnd type="arrow" len="sm" w="med"/>
            <a:tailEnd type="arrow" len="sm" w="med"/>
          </a:ln>
        </p:spPr>
      </p:sp>
      <p:sp>
        <p:nvSpPr>
          <p:cNvPr name="TextBox 27" id="27"/>
          <p:cNvSpPr txBox="true"/>
          <p:nvPr/>
        </p:nvSpPr>
        <p:spPr>
          <a:xfrm rot="0">
            <a:off x="8532911" y="9735437"/>
            <a:ext cx="9440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47449" cy="157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54990"/>
              <a:ext cx="206735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09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389526" y="3171349"/>
            <a:ext cx="1804518" cy="3944302"/>
          </a:xfrm>
          <a:custGeom>
            <a:avLst/>
            <a:gdLst/>
            <a:ahLst/>
            <a:cxnLst/>
            <a:rect r="r" b="b" t="t" l="l"/>
            <a:pathLst>
              <a:path h="3944302" w="1804518">
                <a:moveTo>
                  <a:pt x="0" y="0"/>
                </a:moveTo>
                <a:lnTo>
                  <a:pt x="1804518" y="0"/>
                </a:lnTo>
                <a:lnTo>
                  <a:pt x="1804518" y="3944302"/>
                </a:lnTo>
                <a:lnTo>
                  <a:pt x="0" y="39443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342586" y="3171349"/>
            <a:ext cx="1814379" cy="3944302"/>
          </a:xfrm>
          <a:custGeom>
            <a:avLst/>
            <a:gdLst/>
            <a:ahLst/>
            <a:cxnLst/>
            <a:rect r="r" b="b" t="t" l="l"/>
            <a:pathLst>
              <a:path h="3944302" w="1814379">
                <a:moveTo>
                  <a:pt x="0" y="0"/>
                </a:moveTo>
                <a:lnTo>
                  <a:pt x="1814379" y="0"/>
                </a:lnTo>
                <a:lnTo>
                  <a:pt x="1814379" y="3944302"/>
                </a:lnTo>
                <a:lnTo>
                  <a:pt x="0" y="39443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309365" y="3171349"/>
            <a:ext cx="1819309" cy="3944302"/>
          </a:xfrm>
          <a:custGeom>
            <a:avLst/>
            <a:gdLst/>
            <a:ahLst/>
            <a:cxnLst/>
            <a:rect r="r" b="b" t="t" l="l"/>
            <a:pathLst>
              <a:path h="3944302" w="1819309">
                <a:moveTo>
                  <a:pt x="0" y="0"/>
                </a:moveTo>
                <a:lnTo>
                  <a:pt x="1819309" y="0"/>
                </a:lnTo>
                <a:lnTo>
                  <a:pt x="1819309" y="3944302"/>
                </a:lnTo>
                <a:lnTo>
                  <a:pt x="0" y="394430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7281074" y="3171349"/>
            <a:ext cx="1804518" cy="3944302"/>
          </a:xfrm>
          <a:custGeom>
            <a:avLst/>
            <a:gdLst/>
            <a:ahLst/>
            <a:cxnLst/>
            <a:rect r="r" b="b" t="t" l="l"/>
            <a:pathLst>
              <a:path h="3944302" w="1804518">
                <a:moveTo>
                  <a:pt x="0" y="0"/>
                </a:moveTo>
                <a:lnTo>
                  <a:pt x="1804519" y="0"/>
                </a:lnTo>
                <a:lnTo>
                  <a:pt x="1804519" y="3944302"/>
                </a:lnTo>
                <a:lnTo>
                  <a:pt x="0" y="39443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37993" y="3171349"/>
            <a:ext cx="1789727" cy="3944302"/>
          </a:xfrm>
          <a:custGeom>
            <a:avLst/>
            <a:gdLst/>
            <a:ahLst/>
            <a:cxnLst/>
            <a:rect r="r" b="b" t="t" l="l"/>
            <a:pathLst>
              <a:path h="3944302" w="1789727">
                <a:moveTo>
                  <a:pt x="0" y="0"/>
                </a:moveTo>
                <a:lnTo>
                  <a:pt x="1789727" y="0"/>
                </a:lnTo>
                <a:lnTo>
                  <a:pt x="1789727" y="3944302"/>
                </a:lnTo>
                <a:lnTo>
                  <a:pt x="0" y="394430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1180120" y="3171349"/>
            <a:ext cx="1809449" cy="3944302"/>
          </a:xfrm>
          <a:custGeom>
            <a:avLst/>
            <a:gdLst/>
            <a:ahLst/>
            <a:cxnLst/>
            <a:rect r="r" b="b" t="t" l="l"/>
            <a:pathLst>
              <a:path h="3944302" w="1809449">
                <a:moveTo>
                  <a:pt x="0" y="0"/>
                </a:moveTo>
                <a:lnTo>
                  <a:pt x="1809448" y="0"/>
                </a:lnTo>
                <a:lnTo>
                  <a:pt x="1809448" y="3944302"/>
                </a:lnTo>
                <a:lnTo>
                  <a:pt x="0" y="394430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141968" y="3171349"/>
            <a:ext cx="1804518" cy="3944302"/>
          </a:xfrm>
          <a:custGeom>
            <a:avLst/>
            <a:gdLst/>
            <a:ahLst/>
            <a:cxnLst/>
            <a:rect r="r" b="b" t="t" l="l"/>
            <a:pathLst>
              <a:path h="3944302" w="1804518">
                <a:moveTo>
                  <a:pt x="0" y="0"/>
                </a:moveTo>
                <a:lnTo>
                  <a:pt x="1804519" y="0"/>
                </a:lnTo>
                <a:lnTo>
                  <a:pt x="1804519" y="3944302"/>
                </a:lnTo>
                <a:lnTo>
                  <a:pt x="0" y="394430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5098887" y="3171349"/>
            <a:ext cx="1799588" cy="3944302"/>
          </a:xfrm>
          <a:custGeom>
            <a:avLst/>
            <a:gdLst/>
            <a:ahLst/>
            <a:cxnLst/>
            <a:rect r="r" b="b" t="t" l="l"/>
            <a:pathLst>
              <a:path h="3944302" w="1799588">
                <a:moveTo>
                  <a:pt x="0" y="0"/>
                </a:moveTo>
                <a:lnTo>
                  <a:pt x="1799587" y="0"/>
                </a:lnTo>
                <a:lnTo>
                  <a:pt x="1799587" y="3944302"/>
                </a:lnTo>
                <a:lnTo>
                  <a:pt x="0" y="394430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APP DEMO SLIDES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532911" y="9735437"/>
            <a:ext cx="9440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596955" y="7895425"/>
            <a:ext cx="1328207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b="true" sz="2000" u="sng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<![CDATA[https://www.figma.com/proto/fpUW6Ks5iYP9N9WOYbjs0B/energize-app?node-id=14-11&p=f&t=GVqSuSpwrfGSQXgR-0&scaling=scale-down&content-scaling=fixed&page-id=0%3A1&starting-point-node-id=14%3A4]]>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47449" cy="157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54990"/>
              <a:ext cx="206735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10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818686" y="4648980"/>
            <a:ext cx="4650628" cy="3487971"/>
          </a:xfrm>
          <a:custGeom>
            <a:avLst/>
            <a:gdLst/>
            <a:ahLst/>
            <a:cxnLst/>
            <a:rect r="r" b="b" t="t" l="l"/>
            <a:pathLst>
              <a:path h="3487971" w="4650628">
                <a:moveTo>
                  <a:pt x="0" y="0"/>
                </a:moveTo>
                <a:lnTo>
                  <a:pt x="4650628" y="0"/>
                </a:lnTo>
                <a:lnTo>
                  <a:pt x="4650628" y="3487971"/>
                </a:lnTo>
                <a:lnTo>
                  <a:pt x="0" y="348797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28700" y="3775833"/>
            <a:ext cx="5862268" cy="3282870"/>
          </a:xfrm>
          <a:custGeom>
            <a:avLst/>
            <a:gdLst/>
            <a:ahLst/>
            <a:cxnLst/>
            <a:rect r="r" b="b" t="t" l="l"/>
            <a:pathLst>
              <a:path h="3282870" w="5862268">
                <a:moveTo>
                  <a:pt x="0" y="0"/>
                </a:moveTo>
                <a:lnTo>
                  <a:pt x="5862268" y="0"/>
                </a:lnTo>
                <a:lnTo>
                  <a:pt x="5862268" y="3282870"/>
                </a:lnTo>
                <a:lnTo>
                  <a:pt x="0" y="32828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1082179" y="3775833"/>
            <a:ext cx="5327667" cy="3289834"/>
          </a:xfrm>
          <a:custGeom>
            <a:avLst/>
            <a:gdLst/>
            <a:ahLst/>
            <a:cxnLst/>
            <a:rect r="r" b="b" t="t" l="l"/>
            <a:pathLst>
              <a:path h="3289834" w="5327667">
                <a:moveTo>
                  <a:pt x="0" y="0"/>
                </a:moveTo>
                <a:lnTo>
                  <a:pt x="5327667" y="0"/>
                </a:lnTo>
                <a:lnTo>
                  <a:pt x="5327667" y="3289834"/>
                </a:lnTo>
                <a:lnTo>
                  <a:pt x="0" y="32898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PROTOTYPE / RENDERS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532911" y="9735437"/>
            <a:ext cx="9440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47449" cy="157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54990"/>
              <a:ext cx="206735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11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739306" y="3258010"/>
            <a:ext cx="14809388" cy="4887098"/>
          </a:xfrm>
          <a:custGeom>
            <a:avLst/>
            <a:gdLst/>
            <a:ahLst/>
            <a:cxnLst/>
            <a:rect r="r" b="b" t="t" l="l"/>
            <a:pathLst>
              <a:path h="4887098" w="14809388">
                <a:moveTo>
                  <a:pt x="0" y="0"/>
                </a:moveTo>
                <a:lnTo>
                  <a:pt x="14809388" y="0"/>
                </a:lnTo>
                <a:lnTo>
                  <a:pt x="14809388" y="4887098"/>
                </a:lnTo>
                <a:lnTo>
                  <a:pt x="0" y="48870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PROJECT ROLES &amp; TIMELINE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532911" y="9735437"/>
            <a:ext cx="9440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39463" y="8611833"/>
            <a:ext cx="1120907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 u="sng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  <a:hlinkClick r:id="rId5" tooltip="https://github.com/Akawii/Project_Energize"/>
              </a:rPr>
              <a:t>https://github.com/users/Akawii/projects/2/views/1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2265210" cy="74813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2265210" cy="748131"/>
              <a:chOff x="0" y="0"/>
              <a:chExt cx="447449" cy="147779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447449" cy="147779"/>
              </a:xfrm>
              <a:custGeom>
                <a:avLst/>
                <a:gdLst/>
                <a:ahLst/>
                <a:cxnLst/>
                <a:rect r="r" b="b" t="t" l="l"/>
                <a:pathLst>
                  <a:path h="147779" w="447449">
                    <a:moveTo>
                      <a:pt x="73889" y="0"/>
                    </a:moveTo>
                    <a:lnTo>
                      <a:pt x="373559" y="0"/>
                    </a:lnTo>
                    <a:cubicBezTo>
                      <a:pt x="393156" y="0"/>
                      <a:pt x="411950" y="7785"/>
                      <a:pt x="425807" y="21642"/>
                    </a:cubicBezTo>
                    <a:cubicBezTo>
                      <a:pt x="439664" y="35499"/>
                      <a:pt x="447449" y="54293"/>
                      <a:pt x="447449" y="73889"/>
                    </a:cubicBezTo>
                    <a:lnTo>
                      <a:pt x="447449" y="73889"/>
                    </a:lnTo>
                    <a:cubicBezTo>
                      <a:pt x="447449" y="93486"/>
                      <a:pt x="439664" y="112280"/>
                      <a:pt x="425807" y="126137"/>
                    </a:cubicBezTo>
                    <a:cubicBezTo>
                      <a:pt x="411950" y="139994"/>
                      <a:pt x="393156" y="147779"/>
                      <a:pt x="373559" y="147779"/>
                    </a:cubicBezTo>
                    <a:lnTo>
                      <a:pt x="73889" y="147779"/>
                    </a:lnTo>
                    <a:cubicBezTo>
                      <a:pt x="54293" y="147779"/>
                      <a:pt x="35499" y="139994"/>
                      <a:pt x="21642" y="126137"/>
                    </a:cubicBezTo>
                    <a:cubicBezTo>
                      <a:pt x="7785" y="112280"/>
                      <a:pt x="0" y="93486"/>
                      <a:pt x="0" y="73889"/>
                    </a:cubicBezTo>
                    <a:lnTo>
                      <a:pt x="0" y="73889"/>
                    </a:lnTo>
                    <a:cubicBezTo>
                      <a:pt x="0" y="54293"/>
                      <a:pt x="7785" y="35499"/>
                      <a:pt x="21642" y="21642"/>
                    </a:cubicBezTo>
                    <a:cubicBezTo>
                      <a:pt x="35499" y="7785"/>
                      <a:pt x="54293" y="0"/>
                      <a:pt x="73889" y="0"/>
                    </a:cubicBezTo>
                    <a:close/>
                  </a:path>
                </a:pathLst>
              </a:custGeom>
              <a:solidFill>
                <a:srgbClr val="073B3A"/>
              </a:solidFill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9525"/>
                <a:ext cx="447449" cy="15730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520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98929" y="154990"/>
              <a:ext cx="2067351" cy="4286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Page 12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true" flipV="true" rot="0">
            <a:off x="136359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0"/>
                </a:moveTo>
                <a:lnTo>
                  <a:pt x="0" y="3849700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0">
            <a:off x="-2663120" y="8362150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0" y="3849700"/>
                </a:moveTo>
                <a:lnTo>
                  <a:pt x="7315200" y="3849700"/>
                </a:lnTo>
                <a:lnTo>
                  <a:pt x="7315200" y="0"/>
                </a:lnTo>
                <a:lnTo>
                  <a:pt x="0" y="0"/>
                </a:lnTo>
                <a:lnTo>
                  <a:pt x="0" y="384970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028700" y="4764950"/>
            <a:ext cx="2677045" cy="2523196"/>
            <a:chOff x="0" y="0"/>
            <a:chExt cx="1379491" cy="130021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86759" y="0"/>
                  </a:moveTo>
                  <a:lnTo>
                    <a:pt x="1292732" y="0"/>
                  </a:lnTo>
                  <a:cubicBezTo>
                    <a:pt x="1340648" y="0"/>
                    <a:pt x="1379491" y="38843"/>
                    <a:pt x="1379491" y="86759"/>
                  </a:cubicBezTo>
                  <a:lnTo>
                    <a:pt x="1379491" y="1213453"/>
                  </a:lnTo>
                  <a:cubicBezTo>
                    <a:pt x="1379491" y="1261369"/>
                    <a:pt x="1340648" y="1300212"/>
                    <a:pt x="1292732" y="1300212"/>
                  </a:cubicBezTo>
                  <a:lnTo>
                    <a:pt x="86759" y="1300212"/>
                  </a:lnTo>
                  <a:cubicBezTo>
                    <a:pt x="38843" y="1300212"/>
                    <a:pt x="0" y="1261369"/>
                    <a:pt x="0" y="1213453"/>
                  </a:cubicBezTo>
                  <a:lnTo>
                    <a:pt x="0" y="86759"/>
                  </a:lnTo>
                  <a:cubicBezTo>
                    <a:pt x="0" y="38843"/>
                    <a:pt x="38843" y="0"/>
                    <a:pt x="86759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9525"/>
              <a:ext cx="1379491" cy="1309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415794" y="4764950"/>
            <a:ext cx="2677045" cy="2523196"/>
            <a:chOff x="0" y="0"/>
            <a:chExt cx="1379491" cy="130021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86759" y="0"/>
                  </a:moveTo>
                  <a:lnTo>
                    <a:pt x="1292732" y="0"/>
                  </a:lnTo>
                  <a:cubicBezTo>
                    <a:pt x="1340648" y="0"/>
                    <a:pt x="1379491" y="38843"/>
                    <a:pt x="1379491" y="86759"/>
                  </a:cubicBezTo>
                  <a:lnTo>
                    <a:pt x="1379491" y="1213453"/>
                  </a:lnTo>
                  <a:cubicBezTo>
                    <a:pt x="1379491" y="1261369"/>
                    <a:pt x="1340648" y="1300212"/>
                    <a:pt x="1292732" y="1300212"/>
                  </a:cubicBezTo>
                  <a:lnTo>
                    <a:pt x="86759" y="1300212"/>
                  </a:lnTo>
                  <a:cubicBezTo>
                    <a:pt x="38843" y="1300212"/>
                    <a:pt x="0" y="1261369"/>
                    <a:pt x="0" y="1213453"/>
                  </a:cubicBezTo>
                  <a:lnTo>
                    <a:pt x="0" y="86759"/>
                  </a:lnTo>
                  <a:cubicBezTo>
                    <a:pt x="0" y="38843"/>
                    <a:pt x="38843" y="0"/>
                    <a:pt x="8675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9525"/>
              <a:ext cx="1379491" cy="1309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7805477" y="4764950"/>
            <a:ext cx="2677045" cy="2523196"/>
            <a:chOff x="0" y="0"/>
            <a:chExt cx="1379491" cy="1300212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86759" y="0"/>
                  </a:moveTo>
                  <a:lnTo>
                    <a:pt x="1292732" y="0"/>
                  </a:lnTo>
                  <a:cubicBezTo>
                    <a:pt x="1340648" y="0"/>
                    <a:pt x="1379491" y="38843"/>
                    <a:pt x="1379491" y="86759"/>
                  </a:cubicBezTo>
                  <a:lnTo>
                    <a:pt x="1379491" y="1213453"/>
                  </a:lnTo>
                  <a:cubicBezTo>
                    <a:pt x="1379491" y="1261369"/>
                    <a:pt x="1340648" y="1300212"/>
                    <a:pt x="1292732" y="1300212"/>
                  </a:cubicBezTo>
                  <a:lnTo>
                    <a:pt x="86759" y="1300212"/>
                  </a:lnTo>
                  <a:cubicBezTo>
                    <a:pt x="38843" y="1300212"/>
                    <a:pt x="0" y="1261369"/>
                    <a:pt x="0" y="1213453"/>
                  </a:cubicBezTo>
                  <a:lnTo>
                    <a:pt x="0" y="86759"/>
                  </a:lnTo>
                  <a:cubicBezTo>
                    <a:pt x="0" y="38843"/>
                    <a:pt x="38843" y="0"/>
                    <a:pt x="86759" y="0"/>
                  </a:cubicBez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9525"/>
              <a:ext cx="1379491" cy="1309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219095" y="4764950"/>
            <a:ext cx="2677045" cy="2523196"/>
            <a:chOff x="0" y="0"/>
            <a:chExt cx="1379491" cy="130021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86759" y="0"/>
                  </a:moveTo>
                  <a:lnTo>
                    <a:pt x="1292732" y="0"/>
                  </a:lnTo>
                  <a:cubicBezTo>
                    <a:pt x="1340648" y="0"/>
                    <a:pt x="1379491" y="38843"/>
                    <a:pt x="1379491" y="86759"/>
                  </a:cubicBezTo>
                  <a:lnTo>
                    <a:pt x="1379491" y="1213453"/>
                  </a:lnTo>
                  <a:cubicBezTo>
                    <a:pt x="1379491" y="1261369"/>
                    <a:pt x="1340648" y="1300212"/>
                    <a:pt x="1292732" y="1300212"/>
                  </a:cubicBezTo>
                  <a:lnTo>
                    <a:pt x="86759" y="1300212"/>
                  </a:lnTo>
                  <a:cubicBezTo>
                    <a:pt x="38843" y="1300212"/>
                    <a:pt x="0" y="1261369"/>
                    <a:pt x="0" y="1213453"/>
                  </a:cubicBezTo>
                  <a:lnTo>
                    <a:pt x="0" y="86759"/>
                  </a:lnTo>
                  <a:cubicBezTo>
                    <a:pt x="0" y="38843"/>
                    <a:pt x="38843" y="0"/>
                    <a:pt x="8675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9525"/>
              <a:ext cx="1379491" cy="1309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4610515" y="4764950"/>
            <a:ext cx="2677045" cy="2523196"/>
            <a:chOff x="0" y="0"/>
            <a:chExt cx="1379491" cy="130021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79491" cy="1300212"/>
            </a:xfrm>
            <a:custGeom>
              <a:avLst/>
              <a:gdLst/>
              <a:ahLst/>
              <a:cxnLst/>
              <a:rect r="r" b="b" t="t" l="l"/>
              <a:pathLst>
                <a:path h="1300212" w="1379491">
                  <a:moveTo>
                    <a:pt x="86759" y="0"/>
                  </a:moveTo>
                  <a:lnTo>
                    <a:pt x="1292732" y="0"/>
                  </a:lnTo>
                  <a:cubicBezTo>
                    <a:pt x="1340648" y="0"/>
                    <a:pt x="1379491" y="38843"/>
                    <a:pt x="1379491" y="86759"/>
                  </a:cubicBezTo>
                  <a:lnTo>
                    <a:pt x="1379491" y="1213453"/>
                  </a:lnTo>
                  <a:cubicBezTo>
                    <a:pt x="1379491" y="1261369"/>
                    <a:pt x="1340648" y="1300212"/>
                    <a:pt x="1292732" y="1300212"/>
                  </a:cubicBezTo>
                  <a:lnTo>
                    <a:pt x="86759" y="1300212"/>
                  </a:lnTo>
                  <a:cubicBezTo>
                    <a:pt x="38843" y="1300212"/>
                    <a:pt x="0" y="1261369"/>
                    <a:pt x="0" y="1213453"/>
                  </a:cubicBezTo>
                  <a:lnTo>
                    <a:pt x="0" y="86759"/>
                  </a:lnTo>
                  <a:cubicBezTo>
                    <a:pt x="0" y="38843"/>
                    <a:pt x="38843" y="0"/>
                    <a:pt x="8675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9525"/>
              <a:ext cx="1379491" cy="13097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>
            <a:off x="3705745" y="6026548"/>
            <a:ext cx="750399" cy="94490"/>
          </a:xfrm>
          <a:prstGeom prst="line">
            <a:avLst/>
          </a:prstGeom>
          <a:ln cap="flat" w="38100">
            <a:solidFill>
              <a:srgbClr val="073B3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8" id="28"/>
          <p:cNvSpPr/>
          <p:nvPr/>
        </p:nvSpPr>
        <p:spPr>
          <a:xfrm>
            <a:off x="7092839" y="6026548"/>
            <a:ext cx="789328" cy="0"/>
          </a:xfrm>
          <a:prstGeom prst="line">
            <a:avLst/>
          </a:prstGeom>
          <a:ln cap="flat" w="38100">
            <a:solidFill>
              <a:srgbClr val="073B3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29" id="29"/>
          <p:cNvSpPr/>
          <p:nvPr/>
        </p:nvSpPr>
        <p:spPr>
          <a:xfrm flipV="true">
            <a:off x="10482523" y="5974347"/>
            <a:ext cx="780196" cy="52201"/>
          </a:xfrm>
          <a:prstGeom prst="line">
            <a:avLst/>
          </a:prstGeom>
          <a:ln cap="flat" w="38100">
            <a:solidFill>
              <a:srgbClr val="073B3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AutoShape 30" id="30"/>
          <p:cNvSpPr/>
          <p:nvPr/>
        </p:nvSpPr>
        <p:spPr>
          <a:xfrm>
            <a:off x="13896140" y="6026548"/>
            <a:ext cx="714375" cy="168399"/>
          </a:xfrm>
          <a:prstGeom prst="line">
            <a:avLst/>
          </a:prstGeom>
          <a:ln cap="flat" w="38100">
            <a:solidFill>
              <a:srgbClr val="073B3A"/>
            </a:solidFill>
            <a:prstDash val="solid"/>
            <a:headEnd type="none" len="sm" w="sm"/>
            <a:tailEnd type="arrow" len="sm" w="med"/>
          </a:ln>
        </p:spPr>
      </p:sp>
      <p:sp>
        <p:nvSpPr>
          <p:cNvPr name="TextBox 31" id="31"/>
          <p:cNvSpPr txBox="true"/>
          <p:nvPr/>
        </p:nvSpPr>
        <p:spPr>
          <a:xfrm rot="0">
            <a:off x="2852628" y="2069418"/>
            <a:ext cx="12582744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79"/>
              </a:lnSpc>
            </a:pPr>
            <a:r>
              <a:rPr lang="en-US" b="true" sz="6399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NEXT STEPS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23472" y="5642113"/>
            <a:ext cx="22875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Build</a:t>
            </a: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 the IoT prototype (ESP32 + sensors).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610567" y="5517143"/>
            <a:ext cx="22875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Deve</a:t>
            </a: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lop basic ML models using simulated data.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24872" y="5517143"/>
            <a:ext cx="2287500" cy="75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</a:t>
            </a: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reate interface mockups (P5.js &amp; Unity).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438170" y="5769373"/>
            <a:ext cx="2287500" cy="504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Col</a:t>
            </a: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lect test data for AI training.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4805287" y="5517143"/>
            <a:ext cx="2287500" cy="1000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03"/>
              </a:lnSpc>
              <a:spcBef>
                <a:spcPct val="0"/>
              </a:spcBef>
            </a:pP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Prep</a:t>
            </a:r>
            <a:r>
              <a:rPr lang="en-US" sz="166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are documentation and promotional media for Milestone 2.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32911" y="9735437"/>
            <a:ext cx="944076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b="true" sz="2100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Project I — MSc in Creative Computing and Artificial Intelligence (M-CCIA)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560393" y="1028700"/>
            <a:ext cx="1698907" cy="561098"/>
            <a:chOff x="0" y="0"/>
            <a:chExt cx="447449" cy="14777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7449" cy="147779"/>
            </a:xfrm>
            <a:custGeom>
              <a:avLst/>
              <a:gdLst/>
              <a:ahLst/>
              <a:cxnLst/>
              <a:rect r="r" b="b" t="t" l="l"/>
              <a:pathLst>
                <a:path h="147779" w="447449">
                  <a:moveTo>
                    <a:pt x="73889" y="0"/>
                  </a:moveTo>
                  <a:lnTo>
                    <a:pt x="373559" y="0"/>
                  </a:lnTo>
                  <a:cubicBezTo>
                    <a:pt x="393156" y="0"/>
                    <a:pt x="411950" y="7785"/>
                    <a:pt x="425807" y="21642"/>
                  </a:cubicBezTo>
                  <a:cubicBezTo>
                    <a:pt x="439664" y="35499"/>
                    <a:pt x="447449" y="54293"/>
                    <a:pt x="447449" y="73889"/>
                  </a:cubicBezTo>
                  <a:lnTo>
                    <a:pt x="447449" y="73889"/>
                  </a:lnTo>
                  <a:cubicBezTo>
                    <a:pt x="447449" y="93486"/>
                    <a:pt x="439664" y="112280"/>
                    <a:pt x="425807" y="126137"/>
                  </a:cubicBezTo>
                  <a:cubicBezTo>
                    <a:pt x="411950" y="139994"/>
                    <a:pt x="393156" y="147779"/>
                    <a:pt x="373559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447449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1028700"/>
            <a:ext cx="3366656" cy="561098"/>
            <a:chOff x="0" y="0"/>
            <a:chExt cx="886691" cy="14777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86691" cy="147779"/>
            </a:xfrm>
            <a:custGeom>
              <a:avLst/>
              <a:gdLst/>
              <a:ahLst/>
              <a:cxnLst/>
              <a:rect r="r" b="b" t="t" l="l"/>
              <a:pathLst>
                <a:path h="147779" w="886691">
                  <a:moveTo>
                    <a:pt x="73889" y="0"/>
                  </a:moveTo>
                  <a:lnTo>
                    <a:pt x="812802" y="0"/>
                  </a:lnTo>
                  <a:cubicBezTo>
                    <a:pt x="832399" y="0"/>
                    <a:pt x="851193" y="7785"/>
                    <a:pt x="865050" y="21642"/>
                  </a:cubicBezTo>
                  <a:cubicBezTo>
                    <a:pt x="878906" y="35499"/>
                    <a:pt x="886691" y="54293"/>
                    <a:pt x="886691" y="73889"/>
                  </a:cubicBezTo>
                  <a:lnTo>
                    <a:pt x="886691" y="73889"/>
                  </a:lnTo>
                  <a:cubicBezTo>
                    <a:pt x="886691" y="93486"/>
                    <a:pt x="878906" y="112280"/>
                    <a:pt x="865050" y="126137"/>
                  </a:cubicBezTo>
                  <a:cubicBezTo>
                    <a:pt x="851193" y="139994"/>
                    <a:pt x="832399" y="147779"/>
                    <a:pt x="812802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886691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773056" y="4434205"/>
            <a:ext cx="6486244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Energ</a:t>
            </a:r>
            <a:r>
              <a:rPr lang="en-US" sz="2399" b="true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ize — Protecting our beloved bikes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28700" y="8697202"/>
            <a:ext cx="3787489" cy="561098"/>
            <a:chOff x="0" y="0"/>
            <a:chExt cx="997528" cy="1477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97528" cy="147779"/>
            </a:xfrm>
            <a:custGeom>
              <a:avLst/>
              <a:gdLst/>
              <a:ahLst/>
              <a:cxnLst/>
              <a:rect r="r" b="b" t="t" l="l"/>
              <a:pathLst>
                <a:path h="147779" w="997528">
                  <a:moveTo>
                    <a:pt x="73889" y="0"/>
                  </a:moveTo>
                  <a:lnTo>
                    <a:pt x="923639" y="0"/>
                  </a:lnTo>
                  <a:cubicBezTo>
                    <a:pt x="943235" y="0"/>
                    <a:pt x="962029" y="7785"/>
                    <a:pt x="975886" y="21642"/>
                  </a:cubicBezTo>
                  <a:cubicBezTo>
                    <a:pt x="989743" y="35499"/>
                    <a:pt x="997528" y="54293"/>
                    <a:pt x="997528" y="73889"/>
                  </a:cubicBezTo>
                  <a:lnTo>
                    <a:pt x="997528" y="73889"/>
                  </a:lnTo>
                  <a:cubicBezTo>
                    <a:pt x="997528" y="93486"/>
                    <a:pt x="989743" y="112280"/>
                    <a:pt x="975886" y="126137"/>
                  </a:cubicBezTo>
                  <a:cubicBezTo>
                    <a:pt x="962029" y="139994"/>
                    <a:pt x="943235" y="147779"/>
                    <a:pt x="923639" y="147779"/>
                  </a:cubicBezTo>
                  <a:lnTo>
                    <a:pt x="73889" y="147779"/>
                  </a:lnTo>
                  <a:cubicBezTo>
                    <a:pt x="54293" y="147779"/>
                    <a:pt x="35499" y="139994"/>
                    <a:pt x="21642" y="126137"/>
                  </a:cubicBezTo>
                  <a:cubicBezTo>
                    <a:pt x="7785" y="112280"/>
                    <a:pt x="0" y="93486"/>
                    <a:pt x="0" y="73889"/>
                  </a:cubicBezTo>
                  <a:lnTo>
                    <a:pt x="0" y="73889"/>
                  </a:lnTo>
                  <a:cubicBezTo>
                    <a:pt x="0" y="54293"/>
                    <a:pt x="7785" y="35499"/>
                    <a:pt x="21642" y="21642"/>
                  </a:cubicBezTo>
                  <a:cubicBezTo>
                    <a:pt x="35499" y="7785"/>
                    <a:pt x="54293" y="0"/>
                    <a:pt x="73889" y="0"/>
                  </a:cubicBezTo>
                  <a:close/>
                </a:path>
              </a:pathLst>
            </a:custGeom>
            <a:solidFill>
              <a:srgbClr val="073B3A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9525"/>
              <a:ext cx="997528" cy="1573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true" flipV="true" rot="0">
            <a:off x="15560393" y="3667277"/>
            <a:ext cx="7315200" cy="3849701"/>
          </a:xfrm>
          <a:custGeom>
            <a:avLst/>
            <a:gdLst/>
            <a:ahLst/>
            <a:cxnLst/>
            <a:rect r="r" b="b" t="t" l="l"/>
            <a:pathLst>
              <a:path h="3849701" w="7315200">
                <a:moveTo>
                  <a:pt x="7315200" y="3849701"/>
                </a:moveTo>
                <a:lnTo>
                  <a:pt x="0" y="3849701"/>
                </a:lnTo>
                <a:lnTo>
                  <a:pt x="0" y="0"/>
                </a:lnTo>
                <a:lnTo>
                  <a:pt x="7315200" y="0"/>
                </a:lnTo>
                <a:lnTo>
                  <a:pt x="7315200" y="3849701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898471" y="8285622"/>
            <a:ext cx="3323844" cy="972678"/>
          </a:xfrm>
          <a:custGeom>
            <a:avLst/>
            <a:gdLst/>
            <a:ahLst/>
            <a:cxnLst/>
            <a:rect r="r" b="b" t="t" l="l"/>
            <a:pathLst>
              <a:path h="972678" w="3323844">
                <a:moveTo>
                  <a:pt x="0" y="0"/>
                </a:moveTo>
                <a:lnTo>
                  <a:pt x="3323844" y="0"/>
                </a:lnTo>
                <a:lnTo>
                  <a:pt x="3323844" y="972678"/>
                </a:lnTo>
                <a:lnTo>
                  <a:pt x="0" y="9726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8344" r="0" b="-18344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028700" y="4363403"/>
            <a:ext cx="9058006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true">
                <a:solidFill>
                  <a:srgbClr val="073B3A"/>
                </a:solidFill>
                <a:latin typeface="Bricolage Grotesque Bold"/>
                <a:ea typeface="Bricolage Grotesque Bold"/>
                <a:cs typeface="Bricolage Grotesque Bold"/>
                <a:sym typeface="Bricolage Grotesque Bold"/>
              </a:rPr>
              <a:t>THANK YOU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773056" y="4816475"/>
            <a:ext cx="6486244" cy="66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Inter Medium"/>
                <a:ea typeface="Inter Medium"/>
                <a:cs typeface="Inter Medium"/>
                <a:sym typeface="Inter Medium"/>
              </a:rPr>
              <a:t>Smart, sustainable, and secure urban mobility for a cleaner future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DAG4U9Vn3KA</dc:identifier>
  <dcterms:modified xsi:type="dcterms:W3CDTF">2011-08-01T06:04:30Z</dcterms:modified>
  <cp:revision>1</cp:revision>
  <dc:title>Energize: Turning Sunlight into Motion</dc:title>
</cp:coreProperties>
</file>