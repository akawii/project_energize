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ricolage Grotesque Bold" charset="1" panose="020B0605040402000204"/>
      <p:regular r:id="rId17"/>
    </p:embeddedFont>
    <p:embeddedFont>
      <p:font typeface="Inter" charset="1" panose="020B0502030000000004"/>
      <p:regular r:id="rId18"/>
    </p:embeddedFont>
    <p:embeddedFont>
      <p:font typeface="Inter Medium" charset="1" panose="02000503000000020004"/>
      <p:regular r:id="rId19"/>
    </p:embeddedFont>
    <p:embeddedFont>
      <p:font typeface="Inter Bold" charset="1" panose="020B08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98249" y="8694950"/>
            <a:ext cx="4691503" cy="561098"/>
            <a:chOff x="0" y="0"/>
            <a:chExt cx="1235622" cy="147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5622" cy="147779"/>
            </a:xfrm>
            <a:custGeom>
              <a:avLst/>
              <a:gdLst/>
              <a:ahLst/>
              <a:cxnLst/>
              <a:rect r="r" b="b" t="t" l="l"/>
              <a:pathLst>
                <a:path h="147779" w="1235622">
                  <a:moveTo>
                    <a:pt x="73889" y="0"/>
                  </a:moveTo>
                  <a:lnTo>
                    <a:pt x="1161733" y="0"/>
                  </a:lnTo>
                  <a:cubicBezTo>
                    <a:pt x="1181329" y="0"/>
                    <a:pt x="1200123" y="7785"/>
                    <a:pt x="1213980" y="21642"/>
                  </a:cubicBezTo>
                  <a:cubicBezTo>
                    <a:pt x="1227837" y="35499"/>
                    <a:pt x="1235622" y="54293"/>
                    <a:pt x="1235622" y="73889"/>
                  </a:cubicBezTo>
                  <a:lnTo>
                    <a:pt x="1235622" y="73889"/>
                  </a:lnTo>
                  <a:cubicBezTo>
                    <a:pt x="1235622" y="93486"/>
                    <a:pt x="1227837" y="112280"/>
                    <a:pt x="1213980" y="126137"/>
                  </a:cubicBezTo>
                  <a:cubicBezTo>
                    <a:pt x="1200123" y="139994"/>
                    <a:pt x="1181329" y="147779"/>
                    <a:pt x="1161733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1235622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60672" y="1028700"/>
            <a:ext cx="3366656" cy="561098"/>
            <a:chOff x="0" y="0"/>
            <a:chExt cx="886691" cy="147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10292" y="2181186"/>
            <a:ext cx="10467416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ENERGIZE</a:t>
            </a:r>
          </a:p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TURNING SUNLIGHT INTO MOTION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9627" y="5906245"/>
            <a:ext cx="774874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IADE – M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 in Creative Computing and Artificial Intelligence (M-CCIA)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collaboration with Cicla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079081" y="-1447755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0"/>
                </a:moveTo>
                <a:lnTo>
                  <a:pt x="7315200" y="0"/>
                </a:lnTo>
                <a:lnTo>
                  <a:pt x="7315200" y="3849701"/>
                </a:lnTo>
                <a:lnTo>
                  <a:pt x="0" y="384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3051881" y="7885054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1"/>
                </a:moveTo>
                <a:lnTo>
                  <a:pt x="0" y="3849701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040977" y="7265929"/>
            <a:ext cx="884778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solar-powered, intelligent bicycle parking system promoting sustainable urban mobility.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7919730" y="2174662"/>
            <a:ext cx="244853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602724"/>
            <a:ext cx="15381146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ngela Xavier- no.20251484  — AI, Machine Learning, Visualization,  IoT, Hardware Integration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Muhammad Zidane- no.20200057 — IoT, Hardware Integration, AI, Machine Learning, Visualization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Caleb Okeke- no.20231697</a:t>
            </a:r>
          </a:p>
        </p:txBody>
      </p:sp>
      <p:sp>
        <p:nvSpPr>
          <p:cNvPr name="Freeform 12" id="12"/>
          <p:cNvSpPr/>
          <p:nvPr/>
        </p:nvSpPr>
        <p:spPr>
          <a:xfrm flipH="false" flipV="true" rot="0">
            <a:off x="-243346" y="8134437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1"/>
                </a:moveTo>
                <a:lnTo>
                  <a:pt x="7315200" y="3849701"/>
                </a:lnTo>
                <a:lnTo>
                  <a:pt x="7315200" y="0"/>
                </a:lnTo>
                <a:lnTo>
                  <a:pt x="0" y="0"/>
                </a:lnTo>
                <a:lnTo>
                  <a:pt x="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99048" y="6553287"/>
            <a:ext cx="15110798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solar-powered, intelligent bicycle parking system promoting sustainable urban mobility.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281118" y="2164888"/>
            <a:ext cx="772576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PROBLEM &amp; GOAL</a:t>
            </a: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-243346" y="8134437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1"/>
                </a:moveTo>
                <a:lnTo>
                  <a:pt x="7315200" y="3849701"/>
                </a:lnTo>
                <a:lnTo>
                  <a:pt x="7315200" y="0"/>
                </a:lnTo>
                <a:lnTo>
                  <a:pt x="0" y="0"/>
                </a:lnTo>
                <a:lnTo>
                  <a:pt x="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0062" y="5507662"/>
            <a:ext cx="15627875" cy="205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Goa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Design a secure, eco-friendly bike storage solution powered by solar energy, enhanced with smart access control and real-time monitoring.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30062" y="3498388"/>
            <a:ext cx="15627875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lem: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Urban areas experience high rates of bicycle theft and vandalism, discouraging sustainable commuting.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CONCEPT: WHAT IS ENERGIZE?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3663209"/>
            <a:ext cx="18288000" cy="406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Energize</a:t>
            </a: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a modular, solar-powered bike parking system that offers the following features: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Prevents theft and vandalism.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Utilizes RFID technology for authorized user access.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Operates independently on solar power.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Collects and visualizes usage data via a digital dashboard.</a:t>
            </a:r>
          </a:p>
          <a:p>
            <a:pPr algn="l">
              <a:lnSpc>
                <a:spcPts val="4166"/>
              </a:lnSpc>
            </a:pPr>
          </a:p>
          <a:p>
            <a:pPr algn="l">
              <a:lnSpc>
                <a:spcPts val="4166"/>
              </a:lnSpc>
              <a:spcBef>
                <a:spcPct val="0"/>
              </a:spcBef>
            </a:pPr>
            <a:r>
              <a:rPr lang="en-US" sz="34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📍 This system is deployable in any urban or campus setting.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114971"/>
            <a:ext cx="3366656" cy="3173175"/>
            <a:chOff x="0" y="0"/>
            <a:chExt cx="1379491" cy="13002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WHY ENERGIZE?</a:t>
            </a:r>
          </a:p>
        </p:txBody>
      </p:sp>
      <p:sp>
        <p:nvSpPr>
          <p:cNvPr name="Freeform 14" id="14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288315" y="4114971"/>
            <a:ext cx="3366656" cy="3173175"/>
            <a:chOff x="0" y="0"/>
            <a:chExt cx="1379491" cy="13002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82150" y="4114971"/>
            <a:ext cx="3366656" cy="3173175"/>
            <a:chOff x="0" y="0"/>
            <a:chExt cx="1379491" cy="13002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44156" y="4114971"/>
            <a:ext cx="3366656" cy="3173175"/>
            <a:chOff x="0" y="0"/>
            <a:chExt cx="1379491" cy="13002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73646" y="5230071"/>
            <a:ext cx="287676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Smart Access: RFID-based controlled entry.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33261" y="5072909"/>
            <a:ext cx="2876764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Solar Integration: Clean, renewable energy powering all functions.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27096" y="5072909"/>
            <a:ext cx="2876764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Sensors &amp; Detection: Detects unauthorized access, motion, or tampering.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89102" y="5072909"/>
            <a:ext cx="2876764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Sustainability: Fully off-grid operation with minimal maintenance.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199796" y="4513510"/>
            <a:ext cx="9888407" cy="2622378"/>
          </a:xfrm>
          <a:custGeom>
            <a:avLst/>
            <a:gdLst/>
            <a:ahLst/>
            <a:cxnLst/>
            <a:rect r="r" b="b" t="t" l="l"/>
            <a:pathLst>
              <a:path h="2622378" w="9888407">
                <a:moveTo>
                  <a:pt x="0" y="0"/>
                </a:moveTo>
                <a:lnTo>
                  <a:pt x="9888408" y="0"/>
                </a:lnTo>
                <a:lnTo>
                  <a:pt x="9888408" y="2622377"/>
                </a:lnTo>
                <a:lnTo>
                  <a:pt x="0" y="2622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56" t="-73811" r="0" b="-78312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IOT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062" y="3183819"/>
            <a:ext cx="15627875" cy="111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Overvi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ew::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nsors → Microcontroller (ESP32) → Wi-Fi → Database → Visualization Interface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0062" y="7297812"/>
            <a:ext cx="15627875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nsor data (motion, vibration, energy) is processed by the ESP32 and sent to the database for live monitoring.”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IOT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0062" y="3441018"/>
            <a:ext cx="15627875" cy="30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Components: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ensors: Motion, proximity, vibration, energy.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Controller: ESP32 (data acquisition and transmission).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Dashboard: Displays system activity and energy usage.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Power Source: Photovoltaic panels with smart charging.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330062" y="6418403"/>
            <a:ext cx="15627875" cy="92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Real-time monitoring of bikes, solar performance, and occupancy.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26314" y="2040819"/>
            <a:ext cx="1543537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&amp; MACHINE LEARNING INTEGRATION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3460044"/>
            <a:ext cx="7160340" cy="2247900"/>
            <a:chOff x="0" y="0"/>
            <a:chExt cx="2933958" cy="921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33958" cy="921080"/>
            </a:xfrm>
            <a:custGeom>
              <a:avLst/>
              <a:gdLst/>
              <a:ahLst/>
              <a:cxnLst/>
              <a:rect r="r" b="b" t="t" l="l"/>
              <a:pathLst>
                <a:path h="921080" w="2933958">
                  <a:moveTo>
                    <a:pt x="32437" y="0"/>
                  </a:moveTo>
                  <a:lnTo>
                    <a:pt x="2901521" y="0"/>
                  </a:lnTo>
                  <a:cubicBezTo>
                    <a:pt x="2919436" y="0"/>
                    <a:pt x="2933958" y="14522"/>
                    <a:pt x="2933958" y="32437"/>
                  </a:cubicBezTo>
                  <a:lnTo>
                    <a:pt x="2933958" y="888643"/>
                  </a:lnTo>
                  <a:cubicBezTo>
                    <a:pt x="2933958" y="906557"/>
                    <a:pt x="2919436" y="921080"/>
                    <a:pt x="2901521" y="921080"/>
                  </a:cubicBezTo>
                  <a:lnTo>
                    <a:pt x="32437" y="921080"/>
                  </a:lnTo>
                  <a:cubicBezTo>
                    <a:pt x="14522" y="921080"/>
                    <a:pt x="0" y="906557"/>
                    <a:pt x="0" y="888643"/>
                  </a:cubicBezTo>
                  <a:lnTo>
                    <a:pt x="0" y="32437"/>
                  </a:lnTo>
                  <a:cubicBezTo>
                    <a:pt x="0" y="14522"/>
                    <a:pt x="14522" y="0"/>
                    <a:pt x="32437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933958" cy="921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5181" y="3617207"/>
            <a:ext cx="622035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AI Goals: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Theft detection through ano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maly recognition.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Predicting usage patterns / occupancy forecasting.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Energy optimization based on solar and usage data.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178887" y="3460044"/>
            <a:ext cx="7080413" cy="2247900"/>
            <a:chOff x="0" y="0"/>
            <a:chExt cx="2901208" cy="921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01208" cy="921080"/>
            </a:xfrm>
            <a:custGeom>
              <a:avLst/>
              <a:gdLst/>
              <a:ahLst/>
              <a:cxnLst/>
              <a:rect r="r" b="b" t="t" l="l"/>
              <a:pathLst>
                <a:path h="921080" w="2901208">
                  <a:moveTo>
                    <a:pt x="32803" y="0"/>
                  </a:moveTo>
                  <a:lnTo>
                    <a:pt x="2868405" y="0"/>
                  </a:lnTo>
                  <a:cubicBezTo>
                    <a:pt x="2877105" y="0"/>
                    <a:pt x="2885448" y="3456"/>
                    <a:pt x="2891600" y="9608"/>
                  </a:cubicBezTo>
                  <a:cubicBezTo>
                    <a:pt x="2897752" y="15759"/>
                    <a:pt x="2901208" y="24103"/>
                    <a:pt x="2901208" y="32803"/>
                  </a:cubicBezTo>
                  <a:lnTo>
                    <a:pt x="2901208" y="888277"/>
                  </a:lnTo>
                  <a:cubicBezTo>
                    <a:pt x="2901208" y="906393"/>
                    <a:pt x="2886521" y="921080"/>
                    <a:pt x="2868405" y="921080"/>
                  </a:cubicBezTo>
                  <a:lnTo>
                    <a:pt x="32803" y="921080"/>
                  </a:lnTo>
                  <a:cubicBezTo>
                    <a:pt x="24103" y="921080"/>
                    <a:pt x="15759" y="917624"/>
                    <a:pt x="9608" y="911472"/>
                  </a:cubicBezTo>
                  <a:cubicBezTo>
                    <a:pt x="3456" y="905320"/>
                    <a:pt x="0" y="896977"/>
                    <a:pt x="0" y="888277"/>
                  </a:cubicBezTo>
                  <a:lnTo>
                    <a:pt x="0" y="32803"/>
                  </a:lnTo>
                  <a:cubicBezTo>
                    <a:pt x="0" y="24103"/>
                    <a:pt x="3456" y="15759"/>
                    <a:pt x="9608" y="9608"/>
                  </a:cubicBezTo>
                  <a:cubicBezTo>
                    <a:pt x="15759" y="3456"/>
                    <a:pt x="24103" y="0"/>
                    <a:pt x="32803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901208" cy="921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08919" y="3774369"/>
            <a:ext cx="622035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Data Inputs: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ensor readings (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motion, proximity, solar).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RFID logs and user access data.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Environmental conditions (light, temperature).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8189040" y="4583994"/>
            <a:ext cx="1989847" cy="0"/>
          </a:xfrm>
          <a:prstGeom prst="line">
            <a:avLst/>
          </a:prstGeom>
          <a:ln cap="flat" w="47625">
            <a:solidFill>
              <a:srgbClr val="073B3A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5643757" y="6686223"/>
            <a:ext cx="7080413" cy="2247900"/>
            <a:chOff x="0" y="0"/>
            <a:chExt cx="2901208" cy="921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01208" cy="921080"/>
            </a:xfrm>
            <a:custGeom>
              <a:avLst/>
              <a:gdLst/>
              <a:ahLst/>
              <a:cxnLst/>
              <a:rect r="r" b="b" t="t" l="l"/>
              <a:pathLst>
                <a:path h="921080" w="2901208">
                  <a:moveTo>
                    <a:pt x="32803" y="0"/>
                  </a:moveTo>
                  <a:lnTo>
                    <a:pt x="2868405" y="0"/>
                  </a:lnTo>
                  <a:cubicBezTo>
                    <a:pt x="2877105" y="0"/>
                    <a:pt x="2885448" y="3456"/>
                    <a:pt x="2891600" y="9608"/>
                  </a:cubicBezTo>
                  <a:cubicBezTo>
                    <a:pt x="2897752" y="15759"/>
                    <a:pt x="2901208" y="24103"/>
                    <a:pt x="2901208" y="32803"/>
                  </a:cubicBezTo>
                  <a:lnTo>
                    <a:pt x="2901208" y="888277"/>
                  </a:lnTo>
                  <a:cubicBezTo>
                    <a:pt x="2901208" y="906393"/>
                    <a:pt x="2886521" y="921080"/>
                    <a:pt x="2868405" y="921080"/>
                  </a:cubicBezTo>
                  <a:lnTo>
                    <a:pt x="32803" y="921080"/>
                  </a:lnTo>
                  <a:cubicBezTo>
                    <a:pt x="24103" y="921080"/>
                    <a:pt x="15759" y="917624"/>
                    <a:pt x="9608" y="911472"/>
                  </a:cubicBezTo>
                  <a:cubicBezTo>
                    <a:pt x="3456" y="905320"/>
                    <a:pt x="0" y="896977"/>
                    <a:pt x="0" y="888277"/>
                  </a:cubicBezTo>
                  <a:lnTo>
                    <a:pt x="0" y="32803"/>
                  </a:lnTo>
                  <a:cubicBezTo>
                    <a:pt x="0" y="24103"/>
                    <a:pt x="3456" y="15759"/>
                    <a:pt x="9608" y="9608"/>
                  </a:cubicBezTo>
                  <a:cubicBezTo>
                    <a:pt x="15759" y="3456"/>
                    <a:pt x="24103" y="0"/>
                    <a:pt x="32803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2901208" cy="9210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073789" y="7295823"/>
            <a:ext cx="62203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Expected Outputs: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Alerts, predictive usage trends, energy efficiency adjustments.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9183964" y="4583994"/>
            <a:ext cx="0" cy="2102229"/>
          </a:xfrm>
          <a:prstGeom prst="line">
            <a:avLst/>
          </a:prstGeom>
          <a:ln cap="flat" w="47625">
            <a:solidFill>
              <a:srgbClr val="073B3A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9306" y="3258010"/>
            <a:ext cx="14809388" cy="4887098"/>
          </a:xfrm>
          <a:custGeom>
            <a:avLst/>
            <a:gdLst/>
            <a:ahLst/>
            <a:cxnLst/>
            <a:rect r="r" b="b" t="t" l="l"/>
            <a:pathLst>
              <a:path h="4887098" w="14809388">
                <a:moveTo>
                  <a:pt x="0" y="0"/>
                </a:moveTo>
                <a:lnTo>
                  <a:pt x="14809388" y="0"/>
                </a:lnTo>
                <a:lnTo>
                  <a:pt x="14809388" y="4887098"/>
                </a:lnTo>
                <a:lnTo>
                  <a:pt x="0" y="48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ROLES &amp; TIMELINE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447449" cy="1477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64515"/>
              <a:ext cx="2067351" cy="419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10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4764950"/>
            <a:ext cx="2677045" cy="2523196"/>
            <a:chOff x="0" y="0"/>
            <a:chExt cx="1379491" cy="13002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15794" y="4764950"/>
            <a:ext cx="2677045" cy="2523196"/>
            <a:chOff x="0" y="0"/>
            <a:chExt cx="1379491" cy="13002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05477" y="4764950"/>
            <a:ext cx="2677045" cy="2523196"/>
            <a:chOff x="0" y="0"/>
            <a:chExt cx="1379491" cy="13002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19095" y="4764950"/>
            <a:ext cx="2677045" cy="2523196"/>
            <a:chOff x="0" y="0"/>
            <a:chExt cx="1379491" cy="13002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610515" y="4764950"/>
            <a:ext cx="2677045" cy="2523196"/>
            <a:chOff x="0" y="0"/>
            <a:chExt cx="1379491" cy="13002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379491" cy="13002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3705745" y="6026548"/>
            <a:ext cx="750399" cy="94490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7092839" y="6026548"/>
            <a:ext cx="789328" cy="0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V="true">
            <a:off x="10482523" y="5974347"/>
            <a:ext cx="780196" cy="52201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3896140" y="6026548"/>
            <a:ext cx="714375" cy="168399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NEXT STEPS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3472" y="5651638"/>
            <a:ext cx="22875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IoT prototype (ESP32 + sensors).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10567" y="5526668"/>
            <a:ext cx="22875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lop basic ML models using simulated data.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24872" y="5526668"/>
            <a:ext cx="22875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reate interface mockups (P5.js &amp; Unity).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13867" y="5526668"/>
            <a:ext cx="22875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lect test data for AI training.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05287" y="5526668"/>
            <a:ext cx="228750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Prep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are documentation and promotional media for Milestone 2.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32911" y="9744962"/>
            <a:ext cx="9440763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447449" cy="147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449" cy="147779"/>
            </a:xfrm>
            <a:custGeom>
              <a:avLst/>
              <a:gdLst/>
              <a:ahLst/>
              <a:cxnLst/>
              <a:rect r="r" b="b" t="t" l="l"/>
              <a:pathLst>
                <a:path h="147779" w="447449">
                  <a:moveTo>
                    <a:pt x="73889" y="0"/>
                  </a:moveTo>
                  <a:lnTo>
                    <a:pt x="373559" y="0"/>
                  </a:lnTo>
                  <a:cubicBezTo>
                    <a:pt x="393156" y="0"/>
                    <a:pt x="411950" y="7785"/>
                    <a:pt x="425807" y="21642"/>
                  </a:cubicBezTo>
                  <a:cubicBezTo>
                    <a:pt x="439664" y="35499"/>
                    <a:pt x="447449" y="54293"/>
                    <a:pt x="447449" y="73889"/>
                  </a:cubicBezTo>
                  <a:lnTo>
                    <a:pt x="447449" y="73889"/>
                  </a:lnTo>
                  <a:cubicBezTo>
                    <a:pt x="447449" y="93486"/>
                    <a:pt x="439664" y="112280"/>
                    <a:pt x="425807" y="126137"/>
                  </a:cubicBezTo>
                  <a:cubicBezTo>
                    <a:pt x="411950" y="139994"/>
                    <a:pt x="393156" y="147779"/>
                    <a:pt x="373559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0"/>
              <a:ext cx="447449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0"/>
              <a:ext cx="886691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773056" y="4434205"/>
            <a:ext cx="64862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Energ</a:t>
            </a: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ize — Turning Sunlight into Motion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8697202"/>
            <a:ext cx="3787489" cy="561098"/>
            <a:chOff x="0" y="0"/>
            <a:chExt cx="997528" cy="147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7528" cy="147779"/>
            </a:xfrm>
            <a:custGeom>
              <a:avLst/>
              <a:gdLst/>
              <a:ahLst/>
              <a:cxnLst/>
              <a:rect r="r" b="b" t="t" l="l"/>
              <a:pathLst>
                <a:path h="147779" w="997528">
                  <a:moveTo>
                    <a:pt x="73889" y="0"/>
                  </a:moveTo>
                  <a:lnTo>
                    <a:pt x="923639" y="0"/>
                  </a:lnTo>
                  <a:cubicBezTo>
                    <a:pt x="943235" y="0"/>
                    <a:pt x="962029" y="7785"/>
                    <a:pt x="975886" y="21642"/>
                  </a:cubicBezTo>
                  <a:cubicBezTo>
                    <a:pt x="989743" y="35499"/>
                    <a:pt x="997528" y="54293"/>
                    <a:pt x="997528" y="73889"/>
                  </a:cubicBezTo>
                  <a:lnTo>
                    <a:pt x="997528" y="73889"/>
                  </a:lnTo>
                  <a:cubicBezTo>
                    <a:pt x="997528" y="93486"/>
                    <a:pt x="989743" y="112280"/>
                    <a:pt x="975886" y="126137"/>
                  </a:cubicBezTo>
                  <a:cubicBezTo>
                    <a:pt x="962029" y="139994"/>
                    <a:pt x="943235" y="147779"/>
                    <a:pt x="923639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997528" cy="14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0">
            <a:off x="15560393" y="3667277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1"/>
                </a:moveTo>
                <a:lnTo>
                  <a:pt x="0" y="3849701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98471" y="8285622"/>
            <a:ext cx="3323844" cy="972678"/>
          </a:xfrm>
          <a:custGeom>
            <a:avLst/>
            <a:gdLst/>
            <a:ahLst/>
            <a:cxnLst/>
            <a:rect r="r" b="b" t="t" l="l"/>
            <a:pathLst>
              <a:path h="972678" w="3323844">
                <a:moveTo>
                  <a:pt x="0" y="0"/>
                </a:moveTo>
                <a:lnTo>
                  <a:pt x="3323844" y="0"/>
                </a:lnTo>
                <a:lnTo>
                  <a:pt x="3323844" y="972678"/>
                </a:lnTo>
                <a:lnTo>
                  <a:pt x="0" y="972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344" r="0" b="-1834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363403"/>
            <a:ext cx="905800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73056" y="4816475"/>
            <a:ext cx="648624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Smart, sustainable, and secure urban mobility for a cleaner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DAG4U9Vn3KA</dc:identifier>
  <dcterms:modified xsi:type="dcterms:W3CDTF">2011-08-01T06:04:30Z</dcterms:modified>
  <cp:revision>1</cp:revision>
  <dc:title>Energize: Turning Sunlight into Motion</dc:title>
</cp:coreProperties>
</file>